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raunces ExtraBold"/>
      <p:regular r:id="rId201314"/>
    </p:embeddedFont>
    <p:embeddedFont>
      <p:font typeface="Nobile"/>
      <p:regular r:id="rId201315"/>
    </p:embeddedFont>
    <p:embeddedFont>
      <p:font typeface="Nobile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guide strategic business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92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52427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3,900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8123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Transactions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213915" y="1952427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18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213915" y="28123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Columns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580110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37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661475" y="444003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Missing Values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61475" y="4848721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Review Rating column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13915" y="3580110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50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213915" y="444003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Locations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61475" y="536376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Features span demographics, purchase details, and shopping behavior — including discounts, promo codes, and subscription status.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3662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Preparation in Python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233360" y="1314549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1581547"/>
            <a:ext cx="6296860" cy="1905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1703784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Load &amp; Explore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233360" y="2056705"/>
            <a:ext cx="6296860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Imported via pandas;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33360" y="2606477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3360" y="2873474"/>
            <a:ext cx="6296860" cy="1905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0" name="Text 7"/>
          <p:cNvSpPr/>
          <p:nvPr/>
        </p:nvSpPr>
        <p:spPr>
          <a:xfrm>
            <a:off x="5233360" y="2995712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Clean &amp; Standardize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233360" y="3348633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Imputed missing ratings by category median; renamed to snake_case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33360" y="3879354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4146352"/>
            <a:ext cx="6296860" cy="1905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4" name="Text 11"/>
          <p:cNvSpPr/>
          <p:nvPr/>
        </p:nvSpPr>
        <p:spPr>
          <a:xfrm>
            <a:off x="5233360" y="4268589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Feature Engineer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233360" y="4621510"/>
            <a:ext cx="6296860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Created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bins and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33360" y="5171281"/>
            <a:ext cx="33664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33360" y="5438279"/>
            <a:ext cx="6296860" cy="1905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8" name="Text 15"/>
          <p:cNvSpPr/>
          <p:nvPr/>
        </p:nvSpPr>
        <p:spPr>
          <a:xfrm>
            <a:off x="5233360" y="5560516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Load to Database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233360" y="5913438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Cleaned DataFrame loaded into PostgreSQL for SQL analysis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Revenue by Gender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Finding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more than double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the revenue of female customers — $157,890 vs. $75,191.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271242"/>
            <a:ext cx="5203794" cy="1039416"/>
          </a:xfrm>
          <a:prstGeom prst="roundRect">
            <a:avLst>
              <a:gd name="adj" fmla="val 16367"/>
            </a:avLst>
          </a:prstGeom>
          <a:solidFill>
            <a:srgbClr val="DDEE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5452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488531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Male shoppers represent 68% of the dataset (2,652 of 3,900 records).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Subscribers vs. Non-Subscribers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Insights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Non-subscribers: 2,847 customers · avg. spend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$59.87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Subscribers: 1,053 customers · avg. spend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$59.49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Only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27%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of customers are subscribed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96567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Similar avg. spend, but subscribers are vastly underrepresented.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2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Top Products &amp; Categories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Highest-Rated Products</a:t>
            </a:r>
            <a:endParaRPr lang="en-US" sz="1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35299"/>
          <a:ext cx="9143771" cy="914400"/>
        </p:xfrm>
        <a:graphic>
          <a:graphicData uri="http://schemas.openxmlformats.org/drawingml/2006/table">
            <a:tbl>
              <a:tblPr/>
              <a:tblGrid>
                <a:gridCol w="2601897"/>
                <a:gridCol w="2601897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Product</a:t>
                      </a:r>
                      <a:endParaRPr lang="en-US" sz="14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Avg Rating</a:t>
                      </a:r>
                      <a:endParaRPr lang="en-US" sz="14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Gloves</a:t>
                      </a:r>
                      <a:endParaRPr lang="en-US" sz="14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3.86</a:t>
                      </a:r>
                      <a:endParaRPr lang="en-US" sz="14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Sandals</a:t>
                      </a:r>
                      <a:endParaRPr lang="en-US" sz="14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3.84</a:t>
                      </a:r>
                      <a:endParaRPr lang="en-US" sz="14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Boots</a:t>
                      </a:r>
                      <a:endParaRPr lang="en-US" sz="14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3.82</a:t>
                      </a:r>
                      <a:endParaRPr lang="en-US" sz="14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Hat</a:t>
                      </a:r>
                      <a:endParaRPr lang="en-US" sz="14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3.80</a:t>
                      </a:r>
                      <a:endParaRPr lang="en-US" sz="14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Skirt</a:t>
                      </a:r>
                      <a:endParaRPr lang="en-US" sz="14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3.78</a:t>
                      </a:r>
                      <a:endParaRPr lang="en-US" sz="145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AF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32776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Revenue by Category</a:t>
            </a:r>
            <a:endParaRPr lang="en-US" sz="1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2235299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141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Shipping &amp; Discount Insights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678906"/>
            <a:ext cx="3053877" cy="1686818"/>
          </a:xfrm>
          <a:prstGeom prst="roundRect">
            <a:avLst>
              <a:gd name="adj" fmla="val 10085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850482" y="2867918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Express vs. Standard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3276600"/>
            <a:ext cx="2675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Express avg: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$60.48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 avg: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$58.46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678906"/>
            <a:ext cx="3053976" cy="1686818"/>
          </a:xfrm>
          <a:prstGeom prst="roundRect">
            <a:avLst>
              <a:gd name="adj" fmla="val 10085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4093366" y="2867918"/>
            <a:ext cx="26759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Most Discounted Products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3366" y="3571875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Hat (50%), Sneakers (49.66%), Coat (49.07%)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554736"/>
            <a:ext cx="6296860" cy="1089124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850482" y="4743748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High-Spending Discount Users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5152430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839 customers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used discounts and spent above average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Customer Segmentation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Segment Breakdown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Loyal: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3,116 customers — dominant segment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Returning: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701 customers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New: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Only 83 customers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66325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 customers with 5+ purchases, 958 are subscribers vs. 2,518 non-subscribers.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1369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Power BI Dashboard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1687810"/>
            <a:ext cx="6296860" cy="4356497"/>
          </a:xfrm>
          <a:prstGeom prst="roundRect">
            <a:avLst>
              <a:gd name="adj" fmla="val 3905"/>
            </a:avLst>
          </a:prstGeom>
          <a:solidFill>
            <a:srgbClr val="E8F3E8"/>
          </a:solidFill>
          <a:ln/>
        </p:spPr>
      </p:sp>
      <p:sp>
        <p:nvSpPr>
          <p:cNvPr id="5" name="Shape 2"/>
          <p:cNvSpPr/>
          <p:nvPr/>
        </p:nvSpPr>
        <p:spPr>
          <a:xfrm>
            <a:off x="5233360" y="1687810"/>
            <a:ext cx="6296860" cy="1089124"/>
          </a:xfrm>
          <a:custGeom>
            <a:avLst/>
            <a:gdLst/>
            <a:ahLst/>
            <a:cxnLst/>
            <a:rect l="l" t="t" r="r" b="b"/>
            <a:pathLst>
              <a:path w="6296860" h="1089124">
                <a:moveTo>
                  <a:pt x="141764" y="0"/>
                </a:moveTo>
                <a:lnTo>
                  <a:pt x="6155096" y="0"/>
                </a:lnTo>
                <a:arcTo hR="141768" wR="141764" stAng="16200000" swAng="5400000"/>
                <a:lnTo>
                  <a:pt x="6296860" y="1089124"/>
                </a:lnTo>
                <a:lnTo>
                  <a:pt x="0" y="1089124"/>
                </a:lnTo>
                <a:lnTo>
                  <a:pt x="0" y="141768"/>
                </a:lnTo>
                <a:arcTo hR="141768" wR="141764" stAng="10800000" swAng="5400000"/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5422367" y="1876822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3.9K Customers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2367" y="2285504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 transactions tracked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3360" y="2776934"/>
            <a:ext cx="6296860" cy="1089124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9" name="Shape 6"/>
          <p:cNvSpPr/>
          <p:nvPr/>
        </p:nvSpPr>
        <p:spPr>
          <a:xfrm>
            <a:off x="5233360" y="2776934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10" name="Text 7"/>
          <p:cNvSpPr/>
          <p:nvPr/>
        </p:nvSpPr>
        <p:spPr>
          <a:xfrm>
            <a:off x="5422367" y="2965946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$59.76 Avg Purchase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422367" y="3374628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Across all categories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33360" y="3866059"/>
            <a:ext cx="6296860" cy="1089124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3" name="Shape 10"/>
          <p:cNvSpPr/>
          <p:nvPr/>
        </p:nvSpPr>
        <p:spPr>
          <a:xfrm>
            <a:off x="5233360" y="3866059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14" name="Text 11"/>
          <p:cNvSpPr/>
          <p:nvPr/>
        </p:nvSpPr>
        <p:spPr>
          <a:xfrm>
            <a:off x="5422367" y="4055070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3.75 Avg Rating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422367" y="4463752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Overall review score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233360" y="4955183"/>
            <a:ext cx="6296860" cy="1089124"/>
          </a:xfrm>
          <a:custGeom>
            <a:avLst/>
            <a:gdLst/>
            <a:ahLst/>
            <a:cxnLst/>
            <a:rect l="l" t="t" r="r" b="b"/>
            <a:pathLst>
              <a:path w="6296860" h="1089124">
                <a:moveTo>
                  <a:pt x="0" y="0"/>
                </a:moveTo>
                <a:lnTo>
                  <a:pt x="6296860" y="0"/>
                </a:lnTo>
                <a:lnTo>
                  <a:pt x="6296860" y="947357"/>
                </a:lnTo>
                <a:arcTo hR="141768" wR="141764" stAng="0" swAng="5400000"/>
                <a:lnTo>
                  <a:pt x="141764" y="1089124"/>
                </a:lnTo>
                <a:arcTo hR="141768" wR="141764" stAng="5400000" swAng="5400000"/>
                <a:lnTo>
                  <a:pt x="0" y="0"/>
                </a:lnTo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17" name="Shape 14"/>
          <p:cNvSpPr/>
          <p:nvPr/>
        </p:nvSpPr>
        <p:spPr>
          <a:xfrm>
            <a:off x="5233360" y="4955183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18" name="Text 15"/>
          <p:cNvSpPr/>
          <p:nvPr/>
        </p:nvSpPr>
        <p:spPr>
          <a:xfrm>
            <a:off x="5422367" y="5144195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Filters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5422367" y="5552877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Subscription, Gender, Category, Shipping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073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172097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2062" y="2172097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942062" y="2580779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Promote exclusive subscriber benefits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261221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2062" y="3261221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942062" y="3669903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Reward repeat buyers to grow the Loyal segment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350345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42062" y="4350345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Review Discount Policy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942062" y="4759027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Balance sales lift with margin control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439470"/>
            <a:ext cx="472468" cy="4724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42062" y="5439470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5942062" y="5848152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high-revenue age groups &amp; express-shipping users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2026-09-15T07:22:12Z</dcterms:created>
  <dcterms:modified xsi:type="dcterms:W3CDTF">2026-09-15T07:22:12Z</dcterms:modified>
</cp:coreProperties>
</file>